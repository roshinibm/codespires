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6858000" cy="9144000"/>
  <p:embeddedFontLst>
    <p:embeddedFont>
      <p:font typeface="Economica" panose="020B0604020202020204" charset="0"/>
      <p:regular r:id="rId9"/>
      <p:bold r:id="rId10"/>
      <p:italic r:id="rId11"/>
      <p:boldItalic r:id="rId12"/>
    </p:embeddedFont>
    <p:embeddedFont>
      <p:font typeface="Open Sans" panose="020B0606030504020204" pitchFamily="34" charset="0"/>
      <p:regular r:id="rId13"/>
      <p:bold r:id="rId14"/>
      <p:italic r:id="rId15"/>
      <p:boldItalic r:id="rId1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4" y="77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font" Target="fonts/font5.fntdata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8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font" Target="fonts/font7.fntdata"/><Relationship Id="rId10" Type="http://schemas.openxmlformats.org/officeDocument/2006/relationships/font" Target="fonts/font2.fntdata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font" Target="fonts/font6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shini BM" userId="1eeab9c547a512bb" providerId="LiveId" clId="{3781C4E3-3D68-4A8F-9EA5-092CB7BDFE1E}"/>
    <pc:docChg chg="custSel modSld">
      <pc:chgData name="Roshini BM" userId="1eeab9c547a512bb" providerId="LiveId" clId="{3781C4E3-3D68-4A8F-9EA5-092CB7BDFE1E}" dt="2025-11-04T04:59:12.579" v="51" actId="27636"/>
      <pc:docMkLst>
        <pc:docMk/>
      </pc:docMkLst>
      <pc:sldChg chg="modSp mod">
        <pc:chgData name="Roshini BM" userId="1eeab9c547a512bb" providerId="LiveId" clId="{3781C4E3-3D68-4A8F-9EA5-092CB7BDFE1E}" dt="2025-11-04T04:57:14.298" v="14" actId="20577"/>
        <pc:sldMkLst>
          <pc:docMk/>
          <pc:sldMk cId="0" sldId="257"/>
        </pc:sldMkLst>
        <pc:spChg chg="mod">
          <ac:chgData name="Roshini BM" userId="1eeab9c547a512bb" providerId="LiveId" clId="{3781C4E3-3D68-4A8F-9EA5-092CB7BDFE1E}" dt="2025-11-04T04:57:14.298" v="14" actId="20577"/>
          <ac:spMkLst>
            <pc:docMk/>
            <pc:sldMk cId="0" sldId="257"/>
            <ac:spMk id="69" creationId="{00000000-0000-0000-0000-000000000000}"/>
          </ac:spMkLst>
        </pc:spChg>
      </pc:sldChg>
      <pc:sldChg chg="modSp mod">
        <pc:chgData name="Roshini BM" userId="1eeab9c547a512bb" providerId="LiveId" clId="{3781C4E3-3D68-4A8F-9EA5-092CB7BDFE1E}" dt="2025-11-04T04:57:32.933" v="31" actId="20577"/>
        <pc:sldMkLst>
          <pc:docMk/>
          <pc:sldMk cId="0" sldId="258"/>
        </pc:sldMkLst>
        <pc:spChg chg="mod">
          <ac:chgData name="Roshini BM" userId="1eeab9c547a512bb" providerId="LiveId" clId="{3781C4E3-3D68-4A8F-9EA5-092CB7BDFE1E}" dt="2025-11-04T04:57:32.933" v="31" actId="20577"/>
          <ac:spMkLst>
            <pc:docMk/>
            <pc:sldMk cId="0" sldId="258"/>
            <ac:spMk id="75" creationId="{00000000-0000-0000-0000-000000000000}"/>
          </ac:spMkLst>
        </pc:spChg>
      </pc:sldChg>
      <pc:sldChg chg="modSp mod">
        <pc:chgData name="Roshini BM" userId="1eeab9c547a512bb" providerId="LiveId" clId="{3781C4E3-3D68-4A8F-9EA5-092CB7BDFE1E}" dt="2025-11-04T04:58:33.910" v="41" actId="20577"/>
        <pc:sldMkLst>
          <pc:docMk/>
          <pc:sldMk cId="0" sldId="259"/>
        </pc:sldMkLst>
        <pc:spChg chg="mod">
          <ac:chgData name="Roshini BM" userId="1eeab9c547a512bb" providerId="LiveId" clId="{3781C4E3-3D68-4A8F-9EA5-092CB7BDFE1E}" dt="2025-11-04T04:58:33.910" v="41" actId="20577"/>
          <ac:spMkLst>
            <pc:docMk/>
            <pc:sldMk cId="0" sldId="259"/>
            <ac:spMk id="81" creationId="{00000000-0000-0000-0000-000000000000}"/>
          </ac:spMkLst>
        </pc:spChg>
      </pc:sldChg>
      <pc:sldChg chg="modSp mod">
        <pc:chgData name="Roshini BM" userId="1eeab9c547a512bb" providerId="LiveId" clId="{3781C4E3-3D68-4A8F-9EA5-092CB7BDFE1E}" dt="2025-11-04T04:59:12.579" v="51" actId="27636"/>
        <pc:sldMkLst>
          <pc:docMk/>
          <pc:sldMk cId="0" sldId="260"/>
        </pc:sldMkLst>
        <pc:spChg chg="mod">
          <ac:chgData name="Roshini BM" userId="1eeab9c547a512bb" providerId="LiveId" clId="{3781C4E3-3D68-4A8F-9EA5-092CB7BDFE1E}" dt="2025-11-04T04:59:12.579" v="51" actId="27636"/>
          <ac:spMkLst>
            <pc:docMk/>
            <pc:sldMk cId="0" sldId="260"/>
            <ac:spMk id="87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70c03baa5da6fa6a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70c03baa5da6fa6a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70c03baa5da6fa6a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70c03baa5da6fa6a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70c03baa5da6fa6a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70c03baa5da6fa6a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70c03baa5da6fa6a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70c03baa5da6fa6a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70c03baa5da6fa6a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70c03baa5da6fa6a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2744013" y="756700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1" name="Google Shape;11;p2"/>
          <p:cNvSpPr/>
          <p:nvPr/>
        </p:nvSpPr>
        <p:spPr>
          <a:xfrm rot="10800000">
            <a:off x="5318350" y="32667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3044700" y="1444255"/>
            <a:ext cx="3054600" cy="153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3044700" y="3116580"/>
            <a:ext cx="305460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 flipH="1">
            <a:off x="7595938" y="4602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7" name="Google Shape;17;p3"/>
          <p:cNvSpPr/>
          <p:nvPr/>
        </p:nvSpPr>
        <p:spPr>
          <a:xfrm rot="10800000" flipH="1">
            <a:off x="466425" y="35583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8" name="Google Shape;18;p3"/>
          <p:cNvSpPr txBox="1">
            <a:spLocks noGrp="1"/>
          </p:cNvSpPr>
          <p:nvPr>
            <p:ph type="title"/>
          </p:nvPr>
        </p:nvSpPr>
        <p:spPr>
          <a:xfrm>
            <a:off x="773700" y="1806450"/>
            <a:ext cx="7596600" cy="1530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39999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body" idx="2"/>
          </p:nvPr>
        </p:nvSpPr>
        <p:spPr>
          <a:xfrm>
            <a:off x="4832400" y="1225225"/>
            <a:ext cx="39999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311700" y="1399400"/>
            <a:ext cx="2808000" cy="278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5878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9"/>
          <p:cNvSpPr/>
          <p:nvPr/>
        </p:nvSpPr>
        <p:spPr>
          <a:xfrm>
            <a:off x="4572000" y="-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3" name="Google Shape;43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4" name="Google Shape;44;p9"/>
          <p:cNvSpPr txBox="1">
            <a:spLocks noGrp="1"/>
          </p:cNvSpPr>
          <p:nvPr>
            <p:ph type="title"/>
          </p:nvPr>
        </p:nvSpPr>
        <p:spPr>
          <a:xfrm>
            <a:off x="265500" y="929275"/>
            <a:ext cx="4045200" cy="1786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subTitle" idx="1"/>
          </p:nvPr>
        </p:nvSpPr>
        <p:spPr>
          <a:xfrm>
            <a:off x="265500" y="2769001"/>
            <a:ext cx="4045200" cy="157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0"/>
          <p:cNvSpPr txBox="1">
            <a:spLocks noGrp="1"/>
          </p:cNvSpPr>
          <p:nvPr>
            <p:ph type="body" idx="1"/>
          </p:nvPr>
        </p:nvSpPr>
        <p:spPr>
          <a:xfrm>
            <a:off x="319500" y="4218925"/>
            <a:ext cx="5998800" cy="59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</a:lstStyle>
          <a:p>
            <a:endParaRPr/>
          </a:p>
        </p:txBody>
      </p:sp>
      <p:sp>
        <p:nvSpPr>
          <p:cNvPr id="50" name="Google Shape;50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1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11"/>
          <p:cNvSpPr txBox="1">
            <a:spLocks noGrp="1"/>
          </p:cNvSpPr>
          <p:nvPr>
            <p:ph type="title" hasCustomPrompt="1"/>
          </p:nvPr>
        </p:nvSpPr>
        <p:spPr>
          <a:xfrm>
            <a:off x="311700" y="957125"/>
            <a:ext cx="8520600" cy="212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4" name="Google Shape;54;p11"/>
          <p:cNvSpPr txBox="1">
            <a:spLocks noGrp="1"/>
          </p:cNvSpPr>
          <p:nvPr>
            <p:ph type="body" idx="1"/>
          </p:nvPr>
        </p:nvSpPr>
        <p:spPr>
          <a:xfrm>
            <a:off x="311700" y="3162000"/>
            <a:ext cx="8520600" cy="107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luxe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3"/>
          <p:cNvSpPr txBox="1">
            <a:spLocks noGrp="1"/>
          </p:cNvSpPr>
          <p:nvPr>
            <p:ph type="ctrTitle"/>
          </p:nvPr>
        </p:nvSpPr>
        <p:spPr>
          <a:xfrm>
            <a:off x="2776006" y="1579375"/>
            <a:ext cx="3054600" cy="153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Automated Diabetes Risk Assessment System</a:t>
            </a:r>
            <a:endParaRPr/>
          </a:p>
        </p:txBody>
      </p:sp>
      <p:sp>
        <p:nvSpPr>
          <p:cNvPr id="63" name="Google Shape;63;p13"/>
          <p:cNvSpPr txBox="1">
            <a:spLocks noGrp="1"/>
          </p:cNvSpPr>
          <p:nvPr>
            <p:ph type="subTitle" idx="1"/>
          </p:nvPr>
        </p:nvSpPr>
        <p:spPr>
          <a:xfrm>
            <a:off x="3044700" y="3116580"/>
            <a:ext cx="305460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Team Name: CODESPIRES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Members: M Mithra Sree, Roshini B M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4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The Problem</a:t>
            </a:r>
            <a:endParaRPr/>
          </a:p>
        </p:txBody>
      </p:sp>
      <p:sp>
        <p:nvSpPr>
          <p:cNvPr id="69" name="Google Shape;69;p14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 Challenge: Diagnostic Lag &amp; Interpretation Error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dirty="0"/>
              <a:t>• ❌ Overburdened Clinicians: Doctors manually cross-reference 7+ lab values under pressure.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dirty="0"/>
              <a:t>• ❌ Incomplete Picture: Single high values (like Glucose) can overshadow the combined risk of multiple borderline values (like BMI + HbA1c).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dirty="0"/>
              <a:t>• ❌ Delayed Action: Slow interpretation leads to late diagnosis and progression of Type 2 Diabetes.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dirty="0"/>
              <a:t>• Key Message: Diagnosis is too slow and prone to human error.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5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Our Solution: ADRAS </a:t>
            </a:r>
            <a:endParaRPr/>
          </a:p>
        </p:txBody>
      </p:sp>
      <p:sp>
        <p:nvSpPr>
          <p:cNvPr id="75" name="Google Shape;75;p15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700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 The Solution: An Explainable AI (XAI) System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dirty="0"/>
              <a:t>• Seamlessly integrates seven core clinical markers.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dirty="0"/>
              <a:t>• Features :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dirty="0"/>
              <a:t>• 1️⃣ Instant Risk Score: Predicts probability of High Risk (0-100%).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dirty="0"/>
              <a:t>• 2️⃣ Clinical Stratification: Provides clear CRITICAL, MODERATE, or LOW alerts.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dirty="0"/>
              <a:t>• 3️⃣ Actionable Suggestions: Gives specific next steps (e.g., "Urgent OGTT").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dirty="0"/>
              <a:t>• 4️⃣ The Innovation: Factor Contribution &amp; Degree of Affect Table.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dirty="0"/>
              <a:t>• Key Message: We provide speed, clarity, and accountability.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6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The Innovation Deep Dive (XAI) </a:t>
            </a:r>
            <a:endParaRPr/>
          </a:p>
        </p:txBody>
      </p:sp>
      <p:sp>
        <p:nvSpPr>
          <p:cNvPr id="81" name="Google Shape;81;p16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77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Innovation: The Power of Explainable AI (XAI)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dirty="0"/>
              <a:t>• Focus: Factor Contribution &amp; Degree of Affect Table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dirty="0"/>
              <a:t>1. Model Weight: The AI's internal score for how much that factor influenced the diagnosis.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dirty="0"/>
              <a:t>2. Patient Value: The specific, inputted lab reading.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dirty="0"/>
              <a:t>3. Excess Value: How far the reading is above the healthy clinical maximum (e.g., "+45 mg/dL").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dirty="0"/>
              <a:t>• Key Message: We combine the AI's Math (Weight) with Clinical Reality (Excess Value) for transparent diagnosis.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7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Impact &amp; Future </a:t>
            </a:r>
            <a:endParaRPr/>
          </a:p>
        </p:txBody>
      </p:sp>
      <p:sp>
        <p:nvSpPr>
          <p:cNvPr id="87" name="Google Shape;87;p17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Title: Impact, Feasibility, and Future Scope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dirty="0"/>
              <a:t>• Impact: Reduces diagnostic time from minutes to seconds, improving patient outcomes.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dirty="0"/>
              <a:t>• Feasibility : Lightweight Python/</a:t>
            </a:r>
            <a:r>
              <a:rPr lang="en-GB" dirty="0" err="1"/>
              <a:t>Streamlit</a:t>
            </a:r>
            <a:r>
              <a:rPr lang="en-GB" dirty="0"/>
              <a:t> prototype is ready to use today.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dirty="0"/>
              <a:t>• Future Scope API Integration. We can deploy this as a service for immediate consumption by existing hospital EHR systems (Electronic Health Records).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dirty="0"/>
              <a:t>• Key Message: A fully feasible solution designed for rapid, real-world hospital deployment.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8"/>
          <p:cNvSpPr txBox="1">
            <a:spLocks noGrp="1"/>
          </p:cNvSpPr>
          <p:nvPr>
            <p:ph type="title"/>
          </p:nvPr>
        </p:nvSpPr>
        <p:spPr>
          <a:xfrm>
            <a:off x="773700" y="1806450"/>
            <a:ext cx="7596600" cy="1530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Thank you!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uxe">
  <a:themeElements>
    <a:clrScheme name="Luxe">
      <a:dk1>
        <a:srgbClr val="000000"/>
      </a:dk1>
      <a:lt1>
        <a:srgbClr val="FFFFFF"/>
      </a:lt1>
      <a:dk2>
        <a:srgbClr val="B7B7B7"/>
      </a:dk2>
      <a:lt2>
        <a:srgbClr val="CCA677"/>
      </a:lt2>
      <a:accent1>
        <a:srgbClr val="5D4037"/>
      </a:accent1>
      <a:accent2>
        <a:srgbClr val="455A64"/>
      </a:accent2>
      <a:accent3>
        <a:srgbClr val="57BB8A"/>
      </a:accent3>
      <a:accent4>
        <a:srgbClr val="78909C"/>
      </a:accent4>
      <a:accent5>
        <a:srgbClr val="607D8B"/>
      </a:accent5>
      <a:accent6>
        <a:srgbClr val="DCE755"/>
      </a:accent6>
      <a:hlink>
        <a:srgbClr val="607D8B"/>
      </a:hlink>
      <a:folHlink>
        <a:srgbClr val="607D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393</Words>
  <Application>Microsoft Office PowerPoint</Application>
  <PresentationFormat>On-screen Show (16:9)</PresentationFormat>
  <Paragraphs>38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Economica</vt:lpstr>
      <vt:lpstr>Open Sans</vt:lpstr>
      <vt:lpstr>Luxe</vt:lpstr>
      <vt:lpstr> Automated Diabetes Risk Assessment System</vt:lpstr>
      <vt:lpstr>The Problem</vt:lpstr>
      <vt:lpstr>Our Solution: ADRAS </vt:lpstr>
      <vt:lpstr>The Innovation Deep Dive (XAI) </vt:lpstr>
      <vt:lpstr>Impact &amp; Future </vt:lpstr>
      <vt:lpstr>Thank you!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Roshini BM</cp:lastModifiedBy>
  <cp:revision>1</cp:revision>
  <dcterms:modified xsi:type="dcterms:W3CDTF">2025-11-04T04:59:23Z</dcterms:modified>
</cp:coreProperties>
</file>